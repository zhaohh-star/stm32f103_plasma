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66A8"/>
          </a:solidFill>
          <a:ln w="9525">
            <a:solidFill>
              <a:srgbClr val="1266A8"/>
            </a:solidFill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1875" r="11875"/>
          <a:stretch>
            <a:fillRect/>
          </a:stretch>
        </p:blipFill>
        <p:spPr>
          <a:xfrm>
            <a:off x="5219700" y="0"/>
            <a:ext cx="6972300" cy="685800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81610" y="1219200"/>
            <a:ext cx="498983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等离子电源 HMI 控制系统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00380" y="2362200"/>
            <a:ext cx="42240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STM32F103 + FreeRTOS 实时控制项目作品集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应聘方向：嵌入式软件 / 运动控制 / 工业设备控制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3429000"/>
            <a:ext cx="2857500" cy="285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51911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赵思琪</a:t>
            </a:r>
            <a:endParaRPr lang="zh-CN" sz="12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552450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项目周期：2025-2026</a:t>
            </a:r>
            <a:endParaRPr sz="9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工具链：STM32CubeIDE / HAL / CMSIS-RTOS2</a:t>
            </a:r>
            <a:endParaRPr sz="9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601980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交付内容：可调 PWM 输出、定脉冲控制、串口屏交互、电流采样与保护</a:t>
            </a:r>
            <a:endParaRPr sz="9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矩形 53"/>
          <p:cNvSpPr/>
          <p:nvPr/>
        </p:nvSpPr>
        <p:spPr>
          <a:xfrm>
            <a:off x="7486650" y="1920875"/>
            <a:ext cx="4601845" cy="267271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1266A8"/>
          </a:solidFill>
          <a:ln w="9525">
            <a:solidFill>
              <a:srgbClr val="1266A8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286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项目概览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29550" y="27622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从控制面板到实时输出的完整嵌入式闭环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534150"/>
            <a:ext cx="6477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STM32F103 · FreeRTOS · USART HMI · PWM/脉冲控制 · 电流采样保护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02870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</a:t>
            </a:r>
            <a:endParaRPr sz="2250" b="1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1485900"/>
            <a:ext cx="666750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为等离子/脉冲输出设备设计一套基于 STM32F103 的控制程序：</a:t>
            </a:r>
            <a:endParaRPr sz="1350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用户通过串口触摸屏设置频率、占空比与脉冲数，系统根据脚踏开关与档位输入控制单极/双极 PWM 输出，同时采集电流并在异常时快速关断。</a:t>
            </a:r>
            <a:endParaRPr sz="1350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71500" y="2571750"/>
            <a:ext cx="1428750" cy="704850"/>
          </a:xfrm>
          <a:prstGeom prst="roundRect">
            <a:avLst>
              <a:gd name="adj" fmla="val 10811"/>
            </a:avLst>
          </a:prstGeom>
          <a:solidFill>
            <a:srgbClr val="EAF4FF"/>
          </a:solidFill>
          <a:ln w="9525">
            <a:solidFill>
              <a:srgbClr val="B7D7F5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270510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95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950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" y="3028950"/>
            <a:ext cx="12763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FreeRTOS 任务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209800" y="2571750"/>
            <a:ext cx="1619250" cy="704850"/>
          </a:xfrm>
          <a:prstGeom prst="roundRect">
            <a:avLst>
              <a:gd name="adj" fmla="val 10811"/>
            </a:avLst>
          </a:prstGeom>
          <a:solidFill>
            <a:srgbClr val="EAF4FF"/>
          </a:solidFill>
          <a:ln w="9525">
            <a:solidFill>
              <a:srgbClr val="B7D7F5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209800" y="270510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95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</a:t>
            </a:r>
            <a:endParaRPr sz="1950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286000" y="3028950"/>
            <a:ext cx="14668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ADC DMA 双缓冲点数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038600" y="2571750"/>
            <a:ext cx="1762125" cy="704850"/>
          </a:xfrm>
          <a:prstGeom prst="roundRect">
            <a:avLst>
              <a:gd name="adj" fmla="val 10811"/>
            </a:avLst>
          </a:prstGeom>
          <a:solidFill>
            <a:srgbClr val="EAF4FF"/>
          </a:solidFill>
          <a:ln w="9525">
            <a:solidFill>
              <a:srgbClr val="B7D7F5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038600" y="2705100"/>
            <a:ext cx="17621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95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20-120 kHz</a:t>
            </a:r>
            <a:endParaRPr sz="1950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114800" y="3028950"/>
            <a:ext cx="1609725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PWM 频率限制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19800" y="2571750"/>
            <a:ext cx="1333500" cy="704850"/>
          </a:xfrm>
          <a:prstGeom prst="roundRect">
            <a:avLst>
              <a:gd name="adj" fmla="val 10811"/>
            </a:avLst>
          </a:prstGeom>
          <a:solidFill>
            <a:srgbClr val="EAF4FF"/>
          </a:solidFill>
          <a:ln w="9525">
            <a:solidFill>
              <a:srgbClr val="B7D7F5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019800" y="2705100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95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A</a:t>
            </a:r>
            <a:endParaRPr sz="1950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0" y="3028950"/>
            <a:ext cx="11811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过流保护阈值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71500" y="3752850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我的工作</a:t>
            </a:r>
            <a:endParaRPr sz="2250" b="1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椭圆 43"/>
          <p:cNvSpPr>
            <a:spLocks noGrp="1"/>
          </p:cNvSpPr>
          <p:nvPr/>
        </p:nvSpPr>
        <p:spPr>
          <a:xfrm>
            <a:off x="628650" y="4352925"/>
            <a:ext cx="66675" cy="66675"/>
          </a:xfrm>
          <a:prstGeom prst="ellipse">
            <a:avLst/>
          </a:prstGeom>
          <a:solidFill>
            <a:srgbClr val="1266A8"/>
          </a:solidFill>
          <a:ln>
            <a:solidFill>
              <a:srgbClr val="1266A8"/>
            </a:solidFill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00100" y="4286250"/>
            <a:ext cx="66865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搭建 STM32CubeMX/HAL 工程，完成 ADC、TIM、USART、GPIO、IWDG 与 FreeRTOS 配置。</a:t>
            </a:r>
            <a:endParaRPr sz="1275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椭圆 45"/>
          <p:cNvSpPr>
            <a:spLocks noGrp="1"/>
          </p:cNvSpPr>
          <p:nvPr/>
        </p:nvSpPr>
        <p:spPr>
          <a:xfrm>
            <a:off x="628650" y="4791075"/>
            <a:ext cx="66675" cy="66675"/>
          </a:xfrm>
          <a:prstGeom prst="ellipse">
            <a:avLst/>
          </a:prstGeom>
          <a:solidFill>
            <a:srgbClr val="1266A8"/>
          </a:solidFill>
          <a:ln>
            <a:solidFill>
              <a:srgbClr val="1266A8"/>
            </a:solidFill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00100" y="4724400"/>
            <a:ext cx="66865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设计串口屏协议解析流程，支持开关机、频率、占空比、脉冲数等指令输入。</a:t>
            </a:r>
            <a:endParaRPr sz="1275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椭圆 47"/>
          <p:cNvSpPr>
            <a:spLocks noGrp="1"/>
          </p:cNvSpPr>
          <p:nvPr/>
        </p:nvSpPr>
        <p:spPr>
          <a:xfrm>
            <a:off x="628650" y="5057775"/>
            <a:ext cx="66675" cy="66675"/>
          </a:xfrm>
          <a:prstGeom prst="ellipse">
            <a:avLst/>
          </a:prstGeom>
          <a:solidFill>
            <a:srgbClr val="1266A8"/>
          </a:solidFill>
          <a:ln>
            <a:solidFill>
              <a:srgbClr val="1266A8"/>
            </a:solidFill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00100" y="4991100"/>
            <a:ext cx="66865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 PWM 安全启停、单极/双极档位输出、脚踏控制与定脉冲输出互斥。</a:t>
            </a:r>
            <a:endParaRPr sz="1275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椭圆 49"/>
          <p:cNvSpPr>
            <a:spLocks noGrp="1"/>
          </p:cNvSpPr>
          <p:nvPr/>
        </p:nvSpPr>
        <p:spPr>
          <a:xfrm>
            <a:off x="628650" y="5410200"/>
            <a:ext cx="66675" cy="66675"/>
          </a:xfrm>
          <a:prstGeom prst="ellipse">
            <a:avLst/>
          </a:prstGeom>
          <a:solidFill>
            <a:srgbClr val="1266A8"/>
          </a:solidFill>
          <a:ln>
            <a:solidFill>
              <a:srgbClr val="1266A8"/>
            </a:solidFill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00100" y="5314950"/>
            <a:ext cx="66865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 ACS712 霍尔电流采样、零点校准、RMS 计算、滤波与过流保护。</a:t>
            </a:r>
            <a:endParaRPr sz="1275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0623" y="1980883"/>
            <a:ext cx="4533900" cy="2552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1266A8"/>
          </a:solidFill>
          <a:ln w="9525">
            <a:solidFill>
              <a:srgbClr val="1266A8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286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系统架构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29550" y="27622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硬件输入、实时任务与输出执行链路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534150"/>
            <a:ext cx="6477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STM32F103 · FreeRTOS · USART HMI · PWM/脉冲控制 · 电流采样保护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06680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80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主控制链路</a:t>
            </a:r>
            <a:endParaRPr sz="1800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52450" y="1485900"/>
            <a:ext cx="2614613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1266A8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485900"/>
            <a:ext cx="2614613" cy="114300"/>
          </a:xfrm>
          <a:prstGeom prst="rect">
            <a:avLst/>
          </a:prstGeom>
          <a:solidFill>
            <a:srgbClr val="1266A8"/>
          </a:solidFill>
          <a:ln w="9525">
            <a:solidFill>
              <a:srgbClr val="1266A8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714500"/>
            <a:ext cx="2347913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触摸屏/HMI</a:t>
            </a:r>
            <a:endParaRPr sz="1425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038350"/>
            <a:ext cx="234791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USART2 接收 A/B 开关机与 0x55 帧格式参数指令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05163" y="2038350"/>
            <a:ext cx="95250" cy="1905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</p:sp>
      <p:sp>
        <p:nvSpPr>
          <p:cNvPr id="12" name="等腰三角形 11"/>
          <p:cNvSpPr>
            <a:spLocks noGrp="1"/>
          </p:cNvSpPr>
          <p:nvPr/>
        </p:nvSpPr>
        <p:spPr>
          <a:xfrm>
            <a:off x="3262313" y="1990725"/>
            <a:ext cx="95250" cy="114300"/>
          </a:xfrm>
          <a:prstGeom prst="triangl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3376613" y="1485900"/>
            <a:ext cx="2614613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168A5B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376613" y="1485900"/>
            <a:ext cx="2614613" cy="114300"/>
          </a:xfrm>
          <a:prstGeom prst="rect">
            <a:avLst/>
          </a:prstGeom>
          <a:solidFill>
            <a:srgbClr val="168A5B"/>
          </a:solidFill>
          <a:ln w="9525">
            <a:solidFill>
              <a:srgbClr val="168A5B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509963" y="1714500"/>
            <a:ext cx="2347913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168A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8A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控制任务</a:t>
            </a:r>
            <a:endParaRPr sz="1425" b="1">
              <a:solidFill>
                <a:srgbClr val="168A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09963" y="2038350"/>
            <a:ext cx="234791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消息队列接收脉冲数；脚踏状态消抖；档位选择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29325" y="2038350"/>
            <a:ext cx="95250" cy="1905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</p:sp>
      <p:sp>
        <p:nvSpPr>
          <p:cNvPr id="18" name="等腰三角形 17"/>
          <p:cNvSpPr>
            <a:spLocks noGrp="1"/>
          </p:cNvSpPr>
          <p:nvPr/>
        </p:nvSpPr>
        <p:spPr>
          <a:xfrm>
            <a:off x="6086475" y="1990725"/>
            <a:ext cx="95250" cy="114300"/>
          </a:xfrm>
          <a:prstGeom prst="triangl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6200775" y="1485900"/>
            <a:ext cx="2614613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7706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200775" y="1485900"/>
            <a:ext cx="2614613" cy="114300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334125" y="1714500"/>
            <a:ext cx="2347913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PWM/脉冲模块</a:t>
            </a:r>
            <a:endParaRPr sz="142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334125" y="2038350"/>
            <a:ext cx="234791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TIM1 互补 PWM 输出；ARR/CCR 动态更新；定脉冲自动停止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53488" y="2038350"/>
            <a:ext cx="95250" cy="1905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</p:sp>
      <p:sp>
        <p:nvSpPr>
          <p:cNvPr id="24" name="等腰三角形 23"/>
          <p:cNvSpPr>
            <a:spLocks noGrp="1"/>
          </p:cNvSpPr>
          <p:nvPr/>
        </p:nvSpPr>
        <p:spPr>
          <a:xfrm>
            <a:off x="8910638" y="1990725"/>
            <a:ext cx="95250" cy="114300"/>
          </a:xfrm>
          <a:prstGeom prst="triangl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9024938" y="1485900"/>
            <a:ext cx="2614613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33F49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024938" y="1485900"/>
            <a:ext cx="2614613" cy="114300"/>
          </a:xfrm>
          <a:prstGeom prst="rect">
            <a:avLst/>
          </a:prstGeom>
          <a:solidFill>
            <a:srgbClr val="D33F49"/>
          </a:solidFill>
          <a:ln w="9525">
            <a:solidFill>
              <a:srgbClr val="D33F49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158288" y="1714500"/>
            <a:ext cx="2347913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D33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33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执行端</a:t>
            </a:r>
            <a:endParaRPr sz="1425" b="1">
              <a:solidFill>
                <a:srgbClr val="D33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158288" y="2038350"/>
            <a:ext cx="234791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单极/双极输出通道，停止时 GPIO 强制安全电平</a:t>
            </a:r>
            <a:r>
              <a:rPr lang="zh-CN"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，从而控制</a:t>
            </a:r>
            <a:r>
              <a:rPr lang="en-US" altLang="zh-CN"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IGBT</a:t>
            </a:r>
            <a:r>
              <a:rPr lang="zh-CN" altLang="en-US"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快速通断，形成用于激发等离子体的高频</a:t>
            </a:r>
            <a:r>
              <a:rPr lang="zh-CN" altLang="en-US"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能量</a:t>
            </a:r>
            <a:endParaRPr lang="zh-CN" altLang="en-US"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306705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80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采样保护链路</a:t>
            </a:r>
            <a:endParaRPr sz="1800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552450" y="3486150"/>
            <a:ext cx="2614613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1266A8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3486150"/>
            <a:ext cx="2614613" cy="114300"/>
          </a:xfrm>
          <a:prstGeom prst="rect">
            <a:avLst/>
          </a:prstGeom>
          <a:solidFill>
            <a:srgbClr val="1266A8"/>
          </a:solidFill>
          <a:ln w="9525">
            <a:solidFill>
              <a:srgbClr val="1266A8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85800" y="3714750"/>
            <a:ext cx="2347913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ADC DMA</a:t>
            </a:r>
            <a:endParaRPr sz="1425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85800" y="4038600"/>
            <a:ext cx="234791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 点循环缓冲，半满/满中断同步处理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205163" y="4038600"/>
            <a:ext cx="95250" cy="1905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</p:sp>
      <p:sp>
        <p:nvSpPr>
          <p:cNvPr id="35" name="等腰三角形 34"/>
          <p:cNvSpPr>
            <a:spLocks noGrp="1"/>
          </p:cNvSpPr>
          <p:nvPr/>
        </p:nvSpPr>
        <p:spPr>
          <a:xfrm>
            <a:off x="3262313" y="3990975"/>
            <a:ext cx="95250" cy="114300"/>
          </a:xfrm>
          <a:prstGeom prst="triangl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3376613" y="3486150"/>
            <a:ext cx="2614613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168A5B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376613" y="3486150"/>
            <a:ext cx="2614613" cy="114300"/>
          </a:xfrm>
          <a:prstGeom prst="rect">
            <a:avLst/>
          </a:prstGeom>
          <a:solidFill>
            <a:srgbClr val="168A5B"/>
          </a:solidFill>
          <a:ln w="9525">
            <a:solidFill>
              <a:srgbClr val="168A5B"/>
            </a:solidFill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3509963" y="3714750"/>
            <a:ext cx="2347913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168A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8A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电流任务</a:t>
            </a:r>
            <a:endParaRPr sz="1425" b="1">
              <a:solidFill>
                <a:srgbClr val="168A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509963" y="4038600"/>
            <a:ext cx="234791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RMS 计算 + 死区 + 一阶滤波，互斥更新显示值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029325" y="4038600"/>
            <a:ext cx="95250" cy="1905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</p:sp>
      <p:sp>
        <p:nvSpPr>
          <p:cNvPr id="41" name="等腰三角形 40"/>
          <p:cNvSpPr>
            <a:spLocks noGrp="1"/>
          </p:cNvSpPr>
          <p:nvPr/>
        </p:nvSpPr>
        <p:spPr>
          <a:xfrm>
            <a:off x="6086475" y="3990975"/>
            <a:ext cx="95250" cy="114300"/>
          </a:xfrm>
          <a:prstGeom prst="triangl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</p:sp>
      <p:sp>
        <p:nvSpPr>
          <p:cNvPr id="42" name="圆角矩形 41"/>
          <p:cNvSpPr>
            <a:spLocks noGrp="1"/>
          </p:cNvSpPr>
          <p:nvPr/>
        </p:nvSpPr>
        <p:spPr>
          <a:xfrm>
            <a:off x="6200775" y="3486150"/>
            <a:ext cx="2614613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33F49"/>
            </a:solidFill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200775" y="3486150"/>
            <a:ext cx="2614613" cy="114300"/>
          </a:xfrm>
          <a:prstGeom prst="rect">
            <a:avLst/>
          </a:prstGeom>
          <a:solidFill>
            <a:srgbClr val="D33F49"/>
          </a:solidFill>
          <a:ln w="9525">
            <a:solidFill>
              <a:srgbClr val="D33F49"/>
            </a:solidFill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334125" y="3714750"/>
            <a:ext cx="2347913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D33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33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保护策略</a:t>
            </a:r>
            <a:endParaRPr sz="1425" b="1">
              <a:solidFill>
                <a:srgbClr val="D33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334125" y="4038600"/>
            <a:ext cx="234791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电流超过阈值立刻 PWM_Stop，清除系统使能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853488" y="4038600"/>
            <a:ext cx="95250" cy="1905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</p:sp>
      <p:sp>
        <p:nvSpPr>
          <p:cNvPr id="47" name="等腰三角形 46"/>
          <p:cNvSpPr>
            <a:spLocks noGrp="1"/>
          </p:cNvSpPr>
          <p:nvPr/>
        </p:nvSpPr>
        <p:spPr>
          <a:xfrm>
            <a:off x="8910638" y="3990975"/>
            <a:ext cx="95250" cy="114300"/>
          </a:xfrm>
          <a:prstGeom prst="triangl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</p:sp>
      <p:sp>
        <p:nvSpPr>
          <p:cNvPr id="48" name="圆角矩形 47"/>
          <p:cNvSpPr>
            <a:spLocks noGrp="1"/>
          </p:cNvSpPr>
          <p:nvPr/>
        </p:nvSpPr>
        <p:spPr>
          <a:xfrm>
            <a:off x="9024938" y="3486150"/>
            <a:ext cx="2614613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7706"/>
            </a:solidFill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024938" y="3486150"/>
            <a:ext cx="2614613" cy="114300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158288" y="3714750"/>
            <a:ext cx="2347913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UI/蓝牙</a:t>
            </a:r>
            <a:endParaRPr sz="142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158288" y="4038600"/>
            <a:ext cx="2347913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低优先级周期刷新，异常时线程标志立即唤醒</a:t>
            </a:r>
            <a:endParaRPr sz="9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552450" y="5162550"/>
            <a:ext cx="11087100" cy="838200"/>
          </a:xfrm>
          <a:prstGeom prst="roundRect">
            <a:avLst>
              <a:gd name="adj" fmla="val 9091"/>
            </a:avLst>
          </a:prstGeom>
          <a:solidFill>
            <a:srgbClr val="FBFDFF"/>
          </a:solidFill>
          <a:ln w="9525">
            <a:solidFill>
              <a:srgbClr val="C8D6E5"/>
            </a:solidFill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00100" y="535305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架构亮点</a:t>
            </a:r>
            <a:endParaRPr sz="1500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2381250" y="5286375"/>
            <a:ext cx="66040" cy="599440"/>
            <a:chOff x="3750" y="8505"/>
            <a:chExt cx="104" cy="944"/>
          </a:xfrm>
        </p:grpSpPr>
        <p:sp>
          <p:nvSpPr>
            <p:cNvPr id="54" name="椭圆 53"/>
            <p:cNvSpPr>
              <a:spLocks noGrp="1"/>
            </p:cNvSpPr>
            <p:nvPr/>
          </p:nvSpPr>
          <p:spPr>
            <a:xfrm>
              <a:off x="3750" y="8505"/>
              <a:ext cx="105" cy="105"/>
            </a:xfrm>
            <a:prstGeom prst="ellipse">
              <a:avLst/>
            </a:prstGeom>
            <a:solidFill>
              <a:srgbClr val="1266A8"/>
            </a:solidFill>
            <a:ln>
              <a:solidFill>
                <a:srgbClr val="1266A8"/>
              </a:solidFill>
            </a:ln>
          </p:spPr>
        </p:sp>
        <p:sp>
          <p:nvSpPr>
            <p:cNvPr id="56" name="椭圆 55"/>
            <p:cNvSpPr>
              <a:spLocks noGrp="1"/>
            </p:cNvSpPr>
            <p:nvPr/>
          </p:nvSpPr>
          <p:spPr>
            <a:xfrm>
              <a:off x="3750" y="8925"/>
              <a:ext cx="105" cy="105"/>
            </a:xfrm>
            <a:prstGeom prst="ellipse">
              <a:avLst/>
            </a:prstGeom>
            <a:solidFill>
              <a:srgbClr val="1266A8"/>
            </a:solidFill>
            <a:ln>
              <a:solidFill>
                <a:srgbClr val="1266A8"/>
              </a:solidFill>
            </a:ln>
          </p:spPr>
        </p:sp>
        <p:sp>
          <p:nvSpPr>
            <p:cNvPr id="58" name="椭圆 57"/>
            <p:cNvSpPr>
              <a:spLocks noGrp="1"/>
            </p:cNvSpPr>
            <p:nvPr/>
          </p:nvSpPr>
          <p:spPr>
            <a:xfrm>
              <a:off x="3750" y="9345"/>
              <a:ext cx="105" cy="105"/>
            </a:xfrm>
            <a:prstGeom prst="ellipse">
              <a:avLst/>
            </a:prstGeom>
            <a:solidFill>
              <a:srgbClr val="1266A8"/>
            </a:solidFill>
            <a:ln>
              <a:solidFill>
                <a:srgbClr val="1266A8"/>
              </a:solidFill>
            </a:ln>
          </p:spPr>
        </p:sp>
      </p:grpSp>
      <p:grpSp>
        <p:nvGrpSpPr>
          <p:cNvPr id="60" name="组合 59"/>
          <p:cNvGrpSpPr/>
          <p:nvPr/>
        </p:nvGrpSpPr>
        <p:grpSpPr>
          <a:xfrm>
            <a:off x="2552700" y="5229225"/>
            <a:ext cx="8401050" cy="952500"/>
            <a:chOff x="4020" y="8400"/>
            <a:chExt cx="13230" cy="1500"/>
          </a:xfrm>
        </p:grpSpPr>
        <p:sp>
          <p:nvSpPr>
            <p:cNvPr id="55" name="矩形 54"/>
            <p:cNvSpPr>
              <a:spLocks noGrp="1"/>
            </p:cNvSpPr>
            <p:nvPr/>
          </p:nvSpPr>
          <p:spPr>
            <a:xfrm>
              <a:off x="4020" y="8400"/>
              <a:ext cx="13230" cy="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>
                <a:lnSpc>
                  <a:spcPct val="105000"/>
                </a:lnSpc>
                <a:buNone/>
                <a:defRPr sz="1050" b="0">
                  <a:solidFill>
                    <a:srgbClr val="1E29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0">
                  <a:solidFill>
                    <a:srgbClr val="1E29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中断中只做轻量接收与投递，耗时动作下放到任务，降低串口回调阻塞风险。</a:t>
              </a:r>
              <a:endParaRPr sz="105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7" name="矩形 56"/>
            <p:cNvSpPr>
              <a:spLocks noGrp="1"/>
            </p:cNvSpPr>
            <p:nvPr/>
          </p:nvSpPr>
          <p:spPr>
            <a:xfrm>
              <a:off x="4020" y="8820"/>
              <a:ext cx="13230" cy="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>
                <a:lnSpc>
                  <a:spcPct val="105000"/>
                </a:lnSpc>
                <a:buNone/>
                <a:defRPr sz="1050" b="0">
                  <a:solidFill>
                    <a:srgbClr val="1E29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0">
                  <a:solidFill>
                    <a:srgbClr val="1E29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高频采样处理与 UI 刷新解耦，电流保护优先级高于显示美观。</a:t>
              </a:r>
              <a:endParaRPr sz="105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9" name="矩形 58"/>
            <p:cNvSpPr>
              <a:spLocks noGrp="1"/>
            </p:cNvSpPr>
            <p:nvPr/>
          </p:nvSpPr>
          <p:spPr>
            <a:xfrm>
              <a:off x="4020" y="9240"/>
              <a:ext cx="13230" cy="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>
                <a:lnSpc>
                  <a:spcPct val="105000"/>
                </a:lnSpc>
                <a:buNone/>
                <a:defRPr sz="1050" b="0">
                  <a:solidFill>
                    <a:srgbClr val="1E29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050" b="0">
                  <a:solidFill>
                    <a:srgbClr val="1E29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PWM 停止路径包含主输出使能关闭、通道停止、GPIO 安全电平三层处理。</a:t>
              </a:r>
              <a:endParaRPr sz="105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1266A8"/>
          </a:solidFill>
          <a:ln w="9525">
            <a:solidFill>
              <a:srgbClr val="1266A8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286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FreeRTOS 实时任务设计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29550" y="27622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让采样、控制、显示和看门狗各司其职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534150"/>
            <a:ext cx="6477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STM32F103 · FreeRTOS · USART HMI · PWM/脉冲控制 · 电流采样保护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162050"/>
            <a:ext cx="257175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1266A8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1162050"/>
            <a:ext cx="2571750" cy="266700"/>
          </a:xfrm>
          <a:prstGeom prst="rect">
            <a:avLst/>
          </a:prstGeom>
          <a:solidFill>
            <a:srgbClr val="1266A8"/>
          </a:solidFill>
          <a:ln w="9525">
            <a:solidFill>
              <a:srgbClr val="1266A8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1219200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Task_Current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16192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275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优先级：High</a:t>
            </a:r>
            <a:endParaRPr sz="1275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1981200"/>
            <a:ext cx="2190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ADC DMA 半满/满信号触发，计算 RMS 电流并执行过流急停。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52800" y="1162050"/>
            <a:ext cx="257175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168A5B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352800" y="1162050"/>
            <a:ext cx="2571750" cy="266700"/>
          </a:xfrm>
          <a:prstGeom prst="rect">
            <a:avLst/>
          </a:prstGeom>
          <a:solidFill>
            <a:srgbClr val="168A5B"/>
          </a:solidFill>
          <a:ln w="9525">
            <a:solidFill>
              <a:srgbClr val="168A5B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352800" y="1219200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Task_Control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524250" y="16192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275" b="1">
                <a:solidFill>
                  <a:srgbClr val="168A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68A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优先级：AboveNormal</a:t>
            </a:r>
            <a:endParaRPr sz="1275" b="1">
              <a:solidFill>
                <a:srgbClr val="168A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24250" y="1981200"/>
            <a:ext cx="2190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 PulseQueue，处理脚踏开关、档位与定脉冲输出互斥。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153150" y="1162050"/>
            <a:ext cx="257175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97706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153150" y="1162050"/>
            <a:ext cx="2571750" cy="266700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153150" y="1219200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Task_UI_Comm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24600" y="16192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2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优先级：Normal</a:t>
            </a:r>
            <a:endParaRPr sz="1275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24600" y="1981200"/>
            <a:ext cx="2190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周期刷新屏幕与蓝牙数据；异常时由线程标志立即唤醒。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953500" y="1162050"/>
            <a:ext cx="257175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33F49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953500" y="1162050"/>
            <a:ext cx="2571750" cy="266700"/>
          </a:xfrm>
          <a:prstGeom prst="rect">
            <a:avLst/>
          </a:prstGeom>
          <a:solidFill>
            <a:srgbClr val="D33F49"/>
          </a:solidFill>
          <a:ln w="9525">
            <a:solidFill>
              <a:srgbClr val="D33F49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953500" y="1219200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Task_Watchdog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24950" y="16192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275" b="1">
                <a:solidFill>
                  <a:srgbClr val="D33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D33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优先级：Realtime</a:t>
            </a:r>
            <a:endParaRPr sz="1275" b="1">
              <a:solidFill>
                <a:srgbClr val="D33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124950" y="1981200"/>
            <a:ext cx="2190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等待三个任务打卡，全部在线才刷新 IWDG。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52450" y="3238500"/>
            <a:ext cx="1524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同步机制</a:t>
            </a:r>
            <a:endParaRPr sz="2250" b="1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628650" y="3838575"/>
            <a:ext cx="66675" cy="66675"/>
          </a:xfrm>
          <a:prstGeom prst="ellipse">
            <a:avLst/>
          </a:prstGeom>
          <a:solidFill>
            <a:srgbClr val="1266A8"/>
          </a:solidFill>
          <a:ln>
            <a:solidFill>
              <a:srgbClr val="1266A8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3771900"/>
            <a:ext cx="67818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信号量：Sem_ADC_Half / Sem_ADC_Full 对应 DMA 双缓冲，避免主循环轮询。</a:t>
            </a:r>
            <a:endParaRPr sz="1200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628650" y="4276725"/>
            <a:ext cx="66675" cy="66675"/>
          </a:xfrm>
          <a:prstGeom prst="ellipse">
            <a:avLst/>
          </a:prstGeom>
          <a:solidFill>
            <a:srgbClr val="1266A8"/>
          </a:solidFill>
          <a:ln>
            <a:solidFill>
              <a:srgbClr val="1266A8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00100" y="4210050"/>
            <a:ext cx="67818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消息队列：PulseQueue 将 HMI 的脉冲数命令投递给控制任务，避免在串口中断里直接执行。</a:t>
            </a:r>
            <a:endParaRPr sz="1200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628650" y="4714875"/>
            <a:ext cx="66675" cy="66675"/>
          </a:xfrm>
          <a:prstGeom prst="ellipse">
            <a:avLst/>
          </a:prstGeom>
          <a:solidFill>
            <a:srgbClr val="1266A8"/>
          </a:solidFill>
          <a:ln>
            <a:solidFill>
              <a:srgbClr val="1266A8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00100" y="4648200"/>
            <a:ext cx="67818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互斥锁：Mutex_Current 保护 current_display，UI 任务只短时间读取快照。</a:t>
            </a:r>
            <a:endParaRPr sz="1200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628650" y="5153025"/>
            <a:ext cx="66675" cy="66675"/>
          </a:xfrm>
          <a:prstGeom prst="ellipse">
            <a:avLst/>
          </a:prstGeom>
          <a:solidFill>
            <a:srgbClr val="1266A8"/>
          </a:solidFill>
          <a:ln>
            <a:solidFill>
              <a:srgbClr val="1266A8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00100" y="5086350"/>
            <a:ext cx="67818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事件标志：EventGroup_WDG 汇总任务健康状态，防止某个任务卡死仍持续喂狗。</a:t>
            </a:r>
            <a:endParaRPr sz="1200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7581900" y="3524250"/>
            <a:ext cx="4057650" cy="1695450"/>
          </a:xfrm>
          <a:prstGeom prst="roundRect">
            <a:avLst>
              <a:gd name="adj" fmla="val 5333"/>
            </a:avLst>
          </a:prstGeom>
          <a:solidFill>
            <a:srgbClr val="EAF4FF"/>
          </a:solidFill>
          <a:ln w="9525">
            <a:solidFill>
              <a:srgbClr val="B7D7F5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248650" y="3657600"/>
            <a:ext cx="2286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工程取舍</a:t>
            </a:r>
            <a:endParaRPr sz="1500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686675" y="4055110"/>
            <a:ext cx="3809365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 刷新并不需要高频运行，因此放在 Normal 优先级并设置 200ms 等待；</a:t>
            </a:r>
            <a:endParaRPr sz="1125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但过流发生时，Current 任务会立即设置线程标志唤醒 UI。</a:t>
            </a:r>
            <a:endParaRPr sz="1125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这兼顾了实时保护和人机界面响应。</a:t>
            </a:r>
            <a:endParaRPr sz="1125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1266A8"/>
          </a:solidFill>
          <a:ln w="9525">
            <a:solidFill>
              <a:srgbClr val="1266A8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286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关键模块实现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29550" y="27622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PWM、安全停止、电流算法与 HMI 协议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534150"/>
            <a:ext cx="6477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STM32F103 · FreeRTOS · USART HMI · PWM/脉冲控制 · 电流采样保护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52450" y="2019300"/>
            <a:ext cx="3429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1266A8"/>
            </a:solidFill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52450" y="2019300"/>
            <a:ext cx="3429000" cy="133350"/>
          </a:xfrm>
          <a:prstGeom prst="rect">
            <a:avLst/>
          </a:prstGeom>
          <a:solidFill>
            <a:srgbClr val="1266A8"/>
          </a:solidFill>
          <a:ln w="9525">
            <a:solidFill>
              <a:srgbClr val="1266A8"/>
            </a:solidFill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23900" y="23241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PWM 输出</a:t>
            </a:r>
            <a:endParaRPr sz="1500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23900" y="2686050"/>
            <a:ext cx="30003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TIM1 互补 PWM；根据硬件档位开启单极/双极通道；动态修改 ARR/CCR 时保留当前占空比并做边界钳位。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305300" y="2019300"/>
            <a:ext cx="3429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168A5B"/>
            </a:solidFill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305300" y="2019300"/>
            <a:ext cx="3429000" cy="133350"/>
          </a:xfrm>
          <a:prstGeom prst="rect">
            <a:avLst/>
          </a:prstGeom>
          <a:solidFill>
            <a:srgbClr val="168A5B"/>
          </a:solidFill>
          <a:ln w="9525">
            <a:solidFill>
              <a:srgbClr val="168A5B"/>
            </a:solidFill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476750" y="23241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168A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8A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定脉冲控制</a:t>
            </a:r>
            <a:endParaRPr sz="1500" b="1">
              <a:solidFill>
                <a:srgbClr val="168A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476750" y="2686050"/>
            <a:ext cx="30003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PulseControl_Start 设置目标脉冲数，TIM1 更新中断递增计数，到达目标自动 Stop；运行中拒绝重复启动。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058150" y="2019300"/>
            <a:ext cx="3429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97706"/>
            </a:solidFill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058150" y="2019300"/>
            <a:ext cx="3429000" cy="133350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229600" y="23241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电流检测</a:t>
            </a:r>
            <a:endParaRPr sz="15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229600" y="2686050"/>
            <a:ext cx="30003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上电延时后做零点校准；200 点一组计算 RMS；使用整数平方和与整数开方减少 F103 浮点开销。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552450" y="3733800"/>
            <a:ext cx="3429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33F49"/>
            </a:solidFill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52450" y="3733800"/>
            <a:ext cx="3429000" cy="133350"/>
          </a:xfrm>
          <a:prstGeom prst="rect">
            <a:avLst/>
          </a:prstGeom>
          <a:solidFill>
            <a:srgbClr val="D33F49"/>
          </a:solidFill>
          <a:ln w="9525">
            <a:solidFill>
              <a:srgbClr val="D33F49"/>
            </a:solidFill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23900" y="4038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D33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33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滤波保护</a:t>
            </a:r>
            <a:endParaRPr sz="1500" b="1">
              <a:solidFill>
                <a:srgbClr val="D33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23900" y="4400550"/>
            <a:ext cx="30003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ADC 层死区 + 一阶滞后滤波抑制底噪；超过阈值立即关闭 PWM 并清除 system_enable。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4305300" y="3733800"/>
            <a:ext cx="3429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1266A8"/>
            </a:solidFill>
          </a:ln>
        </p:spPr>
      </p:sp>
      <p:sp>
        <p:nvSpPr>
          <p:cNvPr id="23" name="矩形 2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4305300" y="3733800"/>
            <a:ext cx="3429000" cy="133350"/>
          </a:xfrm>
          <a:prstGeom prst="rect">
            <a:avLst/>
          </a:prstGeom>
          <a:solidFill>
            <a:srgbClr val="1266A8"/>
          </a:solidFill>
          <a:ln w="9525">
            <a:solidFill>
              <a:srgbClr val="1266A8"/>
            </a:solidFill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4476750" y="4038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HMI 协议</a:t>
            </a:r>
            <a:endParaRPr sz="1500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4476750" y="4400550"/>
            <a:ext cx="30003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 A/B 开关机；0x55 + 类型 + 4 字节数据 + 0D 0A 参数帧；频率、占空比、脉冲数分类型处理。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8058150" y="3733800"/>
            <a:ext cx="3429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33F49"/>
            </a:solidFill>
          </a:ln>
        </p:spPr>
      </p:sp>
      <p:sp>
        <p:nvSpPr>
          <p:cNvPr id="27" name="矩形 26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8058150" y="3733800"/>
            <a:ext cx="3429000" cy="133350"/>
          </a:xfrm>
          <a:prstGeom prst="rect">
            <a:avLst/>
          </a:prstGeom>
          <a:solidFill>
            <a:srgbClr val="D33F49"/>
          </a:solidFill>
          <a:ln w="9525">
            <a:solidFill>
              <a:srgbClr val="D33F49"/>
            </a:solidFill>
          </a:ln>
        </p:spPr>
      </p:sp>
      <p:sp>
        <p:nvSpPr>
          <p:cNvPr id="28" name="矩形 27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8229600" y="4038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D33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33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安全输出态</a:t>
            </a:r>
            <a:endParaRPr sz="1500" b="1">
              <a:solidFill>
                <a:srgbClr val="D33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8229600" y="4400550"/>
            <a:ext cx="30003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停止时禁用 TIM 主输出、停止所有通道，再把 PWM 引脚切回普通输出并强制拉低。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1266A8"/>
          </a:solidFill>
          <a:ln w="9525">
            <a:solidFill>
              <a:srgbClr val="1266A8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286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项目成果与面试讲述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29550" y="27622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把作品转换成面试官能快速判断的能力信号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534150"/>
            <a:ext cx="6477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STM32F103 · FreeRTOS · USART HMI · PWM/脉冲控制 · 电流采样保护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10784" b="10784"/>
          <a:stretch>
            <a:fillRect/>
          </a:stretch>
        </p:blipFill>
        <p:spPr>
          <a:xfrm>
            <a:off x="552450" y="1200150"/>
            <a:ext cx="4857750" cy="2857500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5791200" y="1190625"/>
            <a:ext cx="5829300" cy="231521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8D6E5"/>
            </a:solidFill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76950" y="1466850"/>
            <a:ext cx="2667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266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项目介绍</a:t>
            </a:r>
            <a:endParaRPr sz="1650" b="1">
              <a:solidFill>
                <a:srgbClr val="1266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67730" y="1885950"/>
            <a:ext cx="5547360" cy="1771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这个项目是我基于 STM32F103 做的一套等离子电源 HMI 控制系统。</a:t>
            </a:r>
            <a:endParaRPr sz="1125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用户可以在串口屏上设置频率、占空比和脉冲数，系统通过 TIM1 输出互补 PWM</a:t>
            </a:r>
            <a:r>
              <a:rPr lang="en-US"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来控制功率开关器件，让后级半桥或者全桥电路产生高频脉冲能量从而产生等离子体</a:t>
            </a:r>
            <a:r>
              <a: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，并根据硬件档位切换单极/双极模式。</a:t>
            </a:r>
            <a:endParaRPr sz="1125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我把程序拆成电流采样、控制、UI 通信和看门狗四个 FreeRTOS 任务，用 DMA 双缓冲处理电流采样，用消息队列把 HMI 的脉冲命令交给控制任务，避免在中断里做耗时操作。安全上实现了过流急停、脚踏</a:t>
            </a:r>
            <a:r>
              <a:rPr lang="zh-CN"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和串口屏</a:t>
            </a:r>
            <a:r>
              <a:rPr sz="1125" b="0">
                <a:solidFill>
                  <a:srgbClr val="1E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控制互斥、PWM 停止后的 GPIO 安全态以及任务级看门狗打卡。</a:t>
            </a:r>
            <a:endParaRPr sz="1125" b="0">
              <a:solidFill>
                <a:srgbClr val="1E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rcRect l="5068" t="3724" r="55161" b="43855"/>
          <a:stretch>
            <a:fillRect/>
          </a:stretch>
        </p:blipFill>
        <p:spPr>
          <a:xfrm>
            <a:off x="6371590" y="3657600"/>
            <a:ext cx="4848860" cy="3030855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840740" y="5227320"/>
            <a:ext cx="4286250" cy="582930"/>
            <a:chOff x="1047" y="7331"/>
            <a:chExt cx="6750" cy="918"/>
          </a:xfrm>
        </p:grpSpPr>
        <p:sp>
          <p:nvSpPr>
            <p:cNvPr id="19" name="圆角矩形 18"/>
            <p:cNvSpPr>
              <a:spLocks noGrp="1"/>
            </p:cNvSpPr>
            <p:nvPr/>
          </p:nvSpPr>
          <p:spPr>
            <a:xfrm>
              <a:off x="1047" y="7331"/>
              <a:ext cx="6751" cy="918"/>
            </a:xfrm>
            <a:prstGeom prst="roundRect">
              <a:avLst>
                <a:gd name="adj" fmla="val 6780"/>
              </a:avLst>
            </a:prstGeom>
            <a:solidFill>
              <a:srgbClr val="EAF4FF"/>
            </a:solidFill>
            <a:ln w="9525">
              <a:solidFill>
                <a:srgbClr val="B7D7F5"/>
              </a:solidFill>
            </a:ln>
          </p:spPr>
        </p:sp>
        <p:sp>
          <p:nvSpPr>
            <p:cNvPr id="28" name="文本框 27"/>
            <p:cNvSpPr txBox="1"/>
            <p:nvPr/>
          </p:nvSpPr>
          <p:spPr>
            <a:xfrm>
              <a:off x="1768" y="7578"/>
              <a:ext cx="475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等离子体</a:t>
              </a:r>
              <a:r>
                <a:rPr lang="zh-CN" altLang="en-US"/>
                <a:t>电源</a:t>
              </a:r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1266A8"/>
          </a:solidFill>
          <a:ln w="9525">
            <a:solidFill>
              <a:srgbClr val="1266A8"/>
            </a:solidFill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57200" y="2286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高速采样与验证</a:t>
            </a: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（后续优化方向</a:t>
            </a:r>
            <a:r>
              <a:rPr lang="zh-CN" altLang="en-US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29550" y="276225"/>
            <a:ext cx="3905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高速电流采集系统与波形结果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6534150"/>
            <a:ext cx="6477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STM32F103 · FreeRTOS · USART HMI · PWM/脉冲控制 · 电流采样保护</a:t>
            </a:r>
            <a:endParaRPr sz="9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1550"/>
          <a:stretch>
            <a:fillRect/>
          </a:stretch>
        </p:blipFill>
        <p:spPr>
          <a:xfrm>
            <a:off x="913765" y="1123950"/>
            <a:ext cx="10364470" cy="4838700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666750" y="6096000"/>
            <a:ext cx="6477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左侧：采集硬件与上位机  右侧：高速电流波形 / 局部放大图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2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3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4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5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6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7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8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9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10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11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12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13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14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15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16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17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18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19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20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21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22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23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ags/tag24.xml><?xml version="1.0" encoding="utf-8"?>
<p:tagLst xmlns:p="http://schemas.openxmlformats.org/presentationml/2006/main">
  <p:tag name="KSO_WM_DIAGRAM_VIRTUALLY_FRAME" val="{&quot;height&quot;:312,&quot;left&quot;:43.5,&quot;top&quot;:88.5,&quot;width&quot;:861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2550</Words>
  <Application>WPS 演示</Application>
  <PresentationFormat>Converted Presentation</PresentationFormat>
  <Paragraphs>197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singularity</cp:lastModifiedBy>
  <cp:revision>12</cp:revision>
  <dcterms:created xsi:type="dcterms:W3CDTF">2026-06-09T12:04:00Z</dcterms:created>
  <dcterms:modified xsi:type="dcterms:W3CDTF">2026-06-11T06:35:52Z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ED4DA115530148E583C1AD943DB0C7EA_12</vt:lpwstr>
  </property>
</Properties>
</file>